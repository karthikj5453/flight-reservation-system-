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57" r:id="rId4"/>
    <p:sldId id="258" r:id="rId5"/>
    <p:sldId id="259" r:id="rId6"/>
    <p:sldId id="272" r:id="rId7"/>
    <p:sldId id="260" r:id="rId8"/>
    <p:sldId id="273" r:id="rId9"/>
    <p:sldId id="261" r:id="rId10"/>
    <p:sldId id="270" r:id="rId11"/>
    <p:sldId id="262" r:id="rId12"/>
    <p:sldId id="263" r:id="rId13"/>
    <p:sldId id="264" r:id="rId14"/>
    <p:sldId id="265" r:id="rId15"/>
    <p:sldId id="267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en sebastian" initials="hs" lastIdx="1" clrIdx="0">
    <p:extLst>
      <p:ext uri="{19B8F6BF-5375-455C-9EA6-DF929625EA0E}">
        <p15:presenceInfo xmlns:p15="http://schemas.microsoft.com/office/powerpoint/2012/main" userId="e52661d3495d9a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90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62656" y="318096"/>
            <a:ext cx="8818685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00" b="1" kern="0" spc="2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Indian Institute of Information Technology Vadodara International Campus Diu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785938" y="3986213"/>
            <a:ext cx="5572125" cy="235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endParaRPr lang="en-US" sz="1269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178" y="1111811"/>
            <a:ext cx="1433643" cy="14703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5998" y="2637203"/>
            <a:ext cx="46704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FLIGHT RESERVATION SYSTEM</a:t>
            </a:r>
          </a:p>
          <a:p>
            <a:pPr algn="ctr"/>
            <a:r>
              <a:rPr lang="en-IN" dirty="0">
                <a:latin typeface="Times New Roman" pitchFamily="18" charset="0"/>
                <a:cs typeface="Times New Roman" pitchFamily="18" charset="0"/>
              </a:rPr>
              <a:t>Group 6</a:t>
            </a:r>
          </a:p>
          <a:p>
            <a:pPr algn="ctr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   Karthik Jadhav                   202411045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   Shivam Raval                     202411080            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   Ashitosh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Shirsath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              202411088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   Helen Mary                        202411102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785936" y="326956"/>
            <a:ext cx="5572125" cy="148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3731" b="1" kern="0" spc="2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FLIGHT RESERVATION SYSTEM</a:t>
            </a:r>
            <a:endParaRPr lang="en-US" sz="373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785938" y="3986213"/>
            <a:ext cx="5572125" cy="235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endParaRPr lang="en-US" sz="1269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362" y="1969476"/>
            <a:ext cx="2655276" cy="265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82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285750"/>
            <a:ext cx="2736775" cy="3876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PROJECT OVERVIEW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1143000"/>
            <a:ext cx="139961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System Purpose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443037"/>
            <a:ext cx="4143375" cy="386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Flight Reservation System using Object-Oriented Programming with file handling. It supports two types of users</a:t>
            </a:r>
            <a:endParaRPr lang="en-US" sz="834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-1162050" y="2165156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607533" y="2503103"/>
            <a:ext cx="39290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3263131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563169"/>
            <a:ext cx="39290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2607598" y="2022686"/>
            <a:ext cx="3929063" cy="57150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12" name="Text 9"/>
          <p:cNvSpPr/>
          <p:nvPr/>
        </p:nvSpPr>
        <p:spPr>
          <a:xfrm>
            <a:off x="3979069" y="2066797"/>
            <a:ext cx="118586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USER CLASS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57250" y="5931440"/>
            <a:ext cx="3929063" cy="571500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57250" y="5931440"/>
            <a:ext cx="21431" cy="571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1000125" y="6224334"/>
            <a:ext cx="1125308" cy="162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Exception Management</a:t>
            </a:r>
            <a:endParaRPr lang="en-US" sz="834" dirty="0"/>
          </a:p>
        </p:txBody>
      </p:sp>
      <p:sp>
        <p:nvSpPr>
          <p:cNvPr id="31" name="Text 10"/>
          <p:cNvSpPr/>
          <p:nvPr/>
        </p:nvSpPr>
        <p:spPr>
          <a:xfrm>
            <a:off x="2707546" y="2315751"/>
            <a:ext cx="1971674" cy="167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ADMIN and CUSTOMER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4"/>
          <p:cNvSpPr/>
          <p:nvPr/>
        </p:nvSpPr>
        <p:spPr>
          <a:xfrm>
            <a:off x="643001" y="3318086"/>
            <a:ext cx="39290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34" dirty="0"/>
          </a:p>
        </p:txBody>
      </p:sp>
      <p:sp>
        <p:nvSpPr>
          <p:cNvPr id="33" name="Shape 7"/>
          <p:cNvSpPr/>
          <p:nvPr/>
        </p:nvSpPr>
        <p:spPr>
          <a:xfrm>
            <a:off x="643066" y="2837668"/>
            <a:ext cx="3366959" cy="144858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4" name="Text 9"/>
          <p:cNvSpPr/>
          <p:nvPr/>
        </p:nvSpPr>
        <p:spPr>
          <a:xfrm>
            <a:off x="1316862" y="2863436"/>
            <a:ext cx="215258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ADMIN CLASS : USER CLASS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743013" y="3130734"/>
            <a:ext cx="2557463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Register/Login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Add new flights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View all flights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View all passengers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View all bookings &amp; cancellations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File – ADMIN_DETAILS.txt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 5"/>
          <p:cNvSpPr/>
          <p:nvPr/>
        </p:nvSpPr>
        <p:spPr>
          <a:xfrm>
            <a:off x="4357688" y="3263131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37" name="Text 6"/>
          <p:cNvSpPr/>
          <p:nvPr/>
        </p:nvSpPr>
        <p:spPr>
          <a:xfrm>
            <a:off x="4357688" y="3563169"/>
            <a:ext cx="39290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34" dirty="0"/>
          </a:p>
        </p:txBody>
      </p:sp>
      <p:sp>
        <p:nvSpPr>
          <p:cNvPr id="38" name="Text 4"/>
          <p:cNvSpPr/>
          <p:nvPr/>
        </p:nvSpPr>
        <p:spPr>
          <a:xfrm>
            <a:off x="4572064" y="3318086"/>
            <a:ext cx="39290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834" dirty="0"/>
          </a:p>
        </p:txBody>
      </p:sp>
      <p:sp>
        <p:nvSpPr>
          <p:cNvPr id="39" name="Shape 7"/>
          <p:cNvSpPr/>
          <p:nvPr/>
        </p:nvSpPr>
        <p:spPr>
          <a:xfrm>
            <a:off x="4572129" y="2837668"/>
            <a:ext cx="3366959" cy="144858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0" name="Text 9"/>
          <p:cNvSpPr/>
          <p:nvPr/>
        </p:nvSpPr>
        <p:spPr>
          <a:xfrm>
            <a:off x="4976877" y="2881780"/>
            <a:ext cx="255746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CUSTOMER CLASS : USER CLASS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4672011" y="3188067"/>
            <a:ext cx="2557463" cy="885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Register/Login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View all flights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 Booking ticket 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 Cancel ticket</a:t>
            </a:r>
          </a:p>
          <a:p>
            <a:pPr marL="171450" indent="-171450">
              <a:lnSpc>
                <a:spcPts val="1400"/>
              </a:lnSpc>
              <a:buFont typeface="Arial" pitchFamily="34" charset="0"/>
              <a:buChar char="•"/>
            </a:pPr>
            <a:r>
              <a:rPr lang="en-IN" sz="1100" dirty="0">
                <a:latin typeface="Times New Roman" pitchFamily="18" charset="0"/>
                <a:cs typeface="Times New Roman" pitchFamily="18" charset="0"/>
              </a:rPr>
              <a:t>File – CUSTOMER_DETAILS.txt 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7CC12A-6ED7-1D64-E65B-595BCA028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394" y="52882"/>
            <a:ext cx="1306665" cy="1306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285750"/>
            <a:ext cx="3240502" cy="436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SYSTEM ARCHITECTURE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00188" y="5236369"/>
            <a:ext cx="610745" cy="13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Pattern</a:t>
            </a:r>
            <a:endParaRPr lang="en-US" sz="683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6525"/>
            <a:ext cx="9144000" cy="3700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7"/>
          <p:cNvSpPr/>
          <p:nvPr/>
        </p:nvSpPr>
        <p:spPr>
          <a:xfrm>
            <a:off x="2563227" y="3298729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1" name="Shape 7"/>
          <p:cNvSpPr/>
          <p:nvPr/>
        </p:nvSpPr>
        <p:spPr>
          <a:xfrm>
            <a:off x="4718101" y="2444007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0" name="Shape 7"/>
          <p:cNvSpPr/>
          <p:nvPr/>
        </p:nvSpPr>
        <p:spPr>
          <a:xfrm>
            <a:off x="496836" y="2444339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9" name="Shape 7"/>
          <p:cNvSpPr/>
          <p:nvPr/>
        </p:nvSpPr>
        <p:spPr>
          <a:xfrm>
            <a:off x="4720579" y="1594055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8" name="Shape 7"/>
          <p:cNvSpPr/>
          <p:nvPr/>
        </p:nvSpPr>
        <p:spPr>
          <a:xfrm>
            <a:off x="496836" y="1604251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6" name="Shape 7"/>
          <p:cNvSpPr/>
          <p:nvPr/>
        </p:nvSpPr>
        <p:spPr>
          <a:xfrm>
            <a:off x="2256818" y="969653"/>
            <a:ext cx="4630360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3" name="Text 0"/>
          <p:cNvSpPr/>
          <p:nvPr/>
        </p:nvSpPr>
        <p:spPr>
          <a:xfrm>
            <a:off x="432633" y="285750"/>
            <a:ext cx="8056274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CORE FEATURES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12234" y="1020137"/>
            <a:ext cx="3854053" cy="295466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⚙️ ADMIN OPERATIONS</a:t>
            </a:r>
            <a:endParaRPr lang="en-US" sz="88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8982" y="1850710"/>
            <a:ext cx="11668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✈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1883" y="1639932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Add new flights </a:t>
            </a: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with complete details including flight number, airline, departure, destination, date, time, and pricing in the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FLIGHT_details.txt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04505" y="1768941"/>
            <a:ext cx="24646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📋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95626" y="1629736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View all available flights </a:t>
            </a: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in the system with comprehensive route and schedule information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FLIGHT_details.txt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3783" y="2633909"/>
            <a:ext cx="182742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👥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71883" y="2480020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View all registered passengers </a:t>
            </a: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with their personal details and identification information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PASSENGER_details.txt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825048" y="2633577"/>
            <a:ext cx="20518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🎫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77073" y="2480677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View all active bookings </a:t>
            </a: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with passenger and flight information for operational oversight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BOOKING_details.txt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615673" y="3496014"/>
            <a:ext cx="23724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❌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875359" y="3337337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View all cancelled bookings </a:t>
            </a: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with refund calculations and cancellation history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CANCAL_BOOING_details.txt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378141" y="2955407"/>
            <a:ext cx="3854053" cy="273793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081492" y="2705594"/>
            <a:ext cx="65" cy="180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911653" y="3560315"/>
            <a:ext cx="6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12879"/>
            <a:ext cx="819150" cy="84011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FE3455F5-48D5-4560-B8EC-40318F5FDC9F}"/>
              </a:ext>
            </a:extLst>
          </p:cNvPr>
          <p:cNvSpPr/>
          <p:nvPr/>
        </p:nvSpPr>
        <p:spPr>
          <a:xfrm>
            <a:off x="2593481" y="3513076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D50B8F38-37C5-4BF9-BA6E-327559BD56ED}"/>
              </a:ext>
            </a:extLst>
          </p:cNvPr>
          <p:cNvSpPr/>
          <p:nvPr/>
        </p:nvSpPr>
        <p:spPr>
          <a:xfrm>
            <a:off x="4545715" y="2659920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42719627-5AB8-4D18-8DE4-343403254FD4}"/>
              </a:ext>
            </a:extLst>
          </p:cNvPr>
          <p:cNvSpPr/>
          <p:nvPr/>
        </p:nvSpPr>
        <p:spPr>
          <a:xfrm>
            <a:off x="455753" y="2659463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9BEF3C86-ED7C-4504-8B15-15020F5282B0}"/>
              </a:ext>
            </a:extLst>
          </p:cNvPr>
          <p:cNvSpPr/>
          <p:nvPr/>
        </p:nvSpPr>
        <p:spPr>
          <a:xfrm>
            <a:off x="4545715" y="1806307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C13EA084-CA40-45C1-9D33-0DC9627FCA22}"/>
              </a:ext>
            </a:extLst>
          </p:cNvPr>
          <p:cNvSpPr/>
          <p:nvPr/>
        </p:nvSpPr>
        <p:spPr>
          <a:xfrm>
            <a:off x="455753" y="1805303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9A8B3252-D3C4-4014-9593-830C761D8319}"/>
              </a:ext>
            </a:extLst>
          </p:cNvPr>
          <p:cNvSpPr/>
          <p:nvPr/>
        </p:nvSpPr>
        <p:spPr>
          <a:xfrm>
            <a:off x="541145" y="1998594"/>
            <a:ext cx="230832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🔐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26">
            <a:extLst>
              <a:ext uri="{FF2B5EF4-FFF2-40B4-BE49-F238E27FC236}">
                <a16:creationId xmlns:a16="http://schemas.microsoft.com/office/drawing/2014/main" id="{AE97BE64-9555-487B-B013-687B33FD41AE}"/>
              </a:ext>
            </a:extLst>
          </p:cNvPr>
          <p:cNvSpPr/>
          <p:nvPr/>
        </p:nvSpPr>
        <p:spPr>
          <a:xfrm>
            <a:off x="816459" y="1840985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Secure registration and login </a:t>
            </a: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with unique customer ID and password authentication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Passenger_details.txt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29">
            <a:extLst>
              <a:ext uri="{FF2B5EF4-FFF2-40B4-BE49-F238E27FC236}">
                <a16:creationId xmlns:a16="http://schemas.microsoft.com/office/drawing/2014/main" id="{EAAF6226-1CA6-4F18-8359-2C9C823CC488}"/>
              </a:ext>
            </a:extLst>
          </p:cNvPr>
          <p:cNvSpPr/>
          <p:nvPr/>
        </p:nvSpPr>
        <p:spPr>
          <a:xfrm>
            <a:off x="4601751" y="1995604"/>
            <a:ext cx="230832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👨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30">
            <a:extLst>
              <a:ext uri="{FF2B5EF4-FFF2-40B4-BE49-F238E27FC236}">
                <a16:creationId xmlns:a16="http://schemas.microsoft.com/office/drawing/2014/main" id="{133FD182-5F35-4881-94AA-085617417480}"/>
              </a:ext>
            </a:extLst>
          </p:cNvPr>
          <p:cNvSpPr/>
          <p:nvPr/>
        </p:nvSpPr>
        <p:spPr>
          <a:xfrm>
            <a:off x="4899332" y="1836892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Add passenger details </a:t>
            </a: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including name, age, and gender for booking purposes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Passenger_details.txt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33">
            <a:extLst>
              <a:ext uri="{FF2B5EF4-FFF2-40B4-BE49-F238E27FC236}">
                <a16:creationId xmlns:a16="http://schemas.microsoft.com/office/drawing/2014/main" id="{D59FDB42-3332-4854-A10D-48F91A27D05C}"/>
              </a:ext>
            </a:extLst>
          </p:cNvPr>
          <p:cNvSpPr/>
          <p:nvPr/>
        </p:nvSpPr>
        <p:spPr>
          <a:xfrm>
            <a:off x="517146" y="2821818"/>
            <a:ext cx="230832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🔍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34">
            <a:extLst>
              <a:ext uri="{FF2B5EF4-FFF2-40B4-BE49-F238E27FC236}">
                <a16:creationId xmlns:a16="http://schemas.microsoft.com/office/drawing/2014/main" id="{D24F28A5-5C58-4D20-AF3D-1E6945DC288B}"/>
              </a:ext>
            </a:extLst>
          </p:cNvPr>
          <p:cNvSpPr/>
          <p:nvPr/>
        </p:nvSpPr>
        <p:spPr>
          <a:xfrm>
            <a:off x="809370" y="2695144"/>
            <a:ext cx="3393281" cy="6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view all available flights </a:t>
            </a: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with complete route, schedule, and pricing information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FLIGHT_details.txt</a:t>
            </a:r>
          </a:p>
          <a:p>
            <a:pPr marL="0" indent="0" algn="l">
              <a:lnSpc>
                <a:spcPts val="1300"/>
              </a:lnSpc>
              <a:buNone/>
            </a:pP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633A9ABE-3B05-4465-9475-AD90049EC3D8}"/>
              </a:ext>
            </a:extLst>
          </p:cNvPr>
          <p:cNvSpPr/>
          <p:nvPr/>
        </p:nvSpPr>
        <p:spPr>
          <a:xfrm>
            <a:off x="4623130" y="2849490"/>
            <a:ext cx="177934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✅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38">
            <a:extLst>
              <a:ext uri="{FF2B5EF4-FFF2-40B4-BE49-F238E27FC236}">
                <a16:creationId xmlns:a16="http://schemas.microsoft.com/office/drawing/2014/main" id="{365C0945-24DD-46D3-B2A9-54CB401BA2DD}"/>
              </a:ext>
            </a:extLst>
          </p:cNvPr>
          <p:cNvSpPr/>
          <p:nvPr/>
        </p:nvSpPr>
        <p:spPr>
          <a:xfrm>
            <a:off x="4883629" y="2698084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 flights</a:t>
            </a: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 by selecting from available options and providing passenger information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BOOKING_details.txt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41">
            <a:extLst>
              <a:ext uri="{FF2B5EF4-FFF2-40B4-BE49-F238E27FC236}">
                <a16:creationId xmlns:a16="http://schemas.microsoft.com/office/drawing/2014/main" id="{A08C8A55-8CA8-44F0-9452-E84CAF3113B4}"/>
              </a:ext>
            </a:extLst>
          </p:cNvPr>
          <p:cNvSpPr/>
          <p:nvPr/>
        </p:nvSpPr>
        <p:spPr>
          <a:xfrm>
            <a:off x="2593481" y="3707538"/>
            <a:ext cx="307777" cy="198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🔄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42">
            <a:extLst>
              <a:ext uri="{FF2B5EF4-FFF2-40B4-BE49-F238E27FC236}">
                <a16:creationId xmlns:a16="http://schemas.microsoft.com/office/drawing/2014/main" id="{94DFB23C-8305-4443-8F29-A6D7B84782F6}"/>
              </a:ext>
            </a:extLst>
          </p:cNvPr>
          <p:cNvSpPr/>
          <p:nvPr/>
        </p:nvSpPr>
        <p:spPr>
          <a:xfrm>
            <a:off x="2931395" y="3556472"/>
            <a:ext cx="339328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Cancel booked tickets </a:t>
            </a: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with automatic refund calculation and cancellation confirmation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CANCEL_BOOING_details.txt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C5919321-62E6-4793-B3E9-D7A784EE116F}"/>
              </a:ext>
            </a:extLst>
          </p:cNvPr>
          <p:cNvSpPr/>
          <p:nvPr/>
        </p:nvSpPr>
        <p:spPr>
          <a:xfrm>
            <a:off x="2619766" y="962016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425503-2666-4283-9CC7-6A1A24E5E5CD}"/>
              </a:ext>
            </a:extLst>
          </p:cNvPr>
          <p:cNvSpPr txBox="1"/>
          <p:nvPr/>
        </p:nvSpPr>
        <p:spPr>
          <a:xfrm>
            <a:off x="3720613" y="967742"/>
            <a:ext cx="4572000" cy="26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b="1" kern="0" spc="1" dirty="0">
                <a:ea typeface="Noto Sans" pitchFamily="34" charset="-122"/>
                <a:cs typeface="Times New Roman" pitchFamily="18" charset="0"/>
              </a:rPr>
              <a:t>👤 CUSTOMER OPERATIONS</a:t>
            </a:r>
            <a:endParaRPr lang="en-US" sz="890" dirty="0">
              <a:cs typeface="Times New Roman" pitchFamily="18" charset="0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C08B8861-ACB0-45F1-8473-D9449AADA586}"/>
              </a:ext>
            </a:extLst>
          </p:cNvPr>
          <p:cNvSpPr/>
          <p:nvPr/>
        </p:nvSpPr>
        <p:spPr>
          <a:xfrm>
            <a:off x="487651" y="297475"/>
            <a:ext cx="8056274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CORE FEATURES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9F1BD17-3F2F-44B0-9BEF-10B16E2BD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12879"/>
            <a:ext cx="819150" cy="84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7"/>
          <p:cNvSpPr/>
          <p:nvPr/>
        </p:nvSpPr>
        <p:spPr>
          <a:xfrm>
            <a:off x="4851956" y="2761804"/>
            <a:ext cx="3929063" cy="9175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5" name="Shape 7"/>
          <p:cNvSpPr/>
          <p:nvPr/>
        </p:nvSpPr>
        <p:spPr>
          <a:xfrm>
            <a:off x="458228" y="2761804"/>
            <a:ext cx="3929063" cy="9175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4" name="Shape 7"/>
          <p:cNvSpPr/>
          <p:nvPr/>
        </p:nvSpPr>
        <p:spPr>
          <a:xfrm>
            <a:off x="2065465" y="1062424"/>
            <a:ext cx="4811878" cy="50364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Text 0"/>
          <p:cNvSpPr/>
          <p:nvPr/>
        </p:nvSpPr>
        <p:spPr>
          <a:xfrm>
            <a:off x="1902583" y="311574"/>
            <a:ext cx="5462329" cy="436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USER AUTHENTICATION &amp; MANAGEMENT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008045" y="1246647"/>
            <a:ext cx="2975955" cy="198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🔐 Authentication System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14703" y="1736697"/>
            <a:ext cx="4762640" cy="757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The system implements secure login and registration for both Admin and Customer roles with file-based credential storage, password validation, and role-specific access controls. Each user type has dedicated authentication flows and access permissions.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51960" y="2900711"/>
            <a:ext cx="3929063" cy="16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78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3481" y="2845991"/>
            <a:ext cx="174406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👨</a:t>
            </a: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 ADMIN AUTHENTICATION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3977" y="3134195"/>
            <a:ext cx="3643313" cy="318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Login with Admin ID, Name, and Password. Full system management including flight management, booking oversight, and passenger tracking.</a:t>
            </a:r>
          </a:p>
        </p:txBody>
      </p:sp>
      <p:sp>
        <p:nvSpPr>
          <p:cNvPr id="16" name="Text 13"/>
          <p:cNvSpPr/>
          <p:nvPr/>
        </p:nvSpPr>
        <p:spPr>
          <a:xfrm>
            <a:off x="4947210" y="2832985"/>
            <a:ext cx="200696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👤</a:t>
            </a: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 CUSTOMER AUTHENTICATION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83276" y="3120758"/>
            <a:ext cx="3643313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Login with Customer ID, Name, and Password. Limited to booking operations, passenger management, and flight browsing.</a:t>
            </a:r>
          </a:p>
          <a:p>
            <a:pPr marL="0" indent="0" algn="l">
              <a:lnSpc>
                <a:spcPts val="1300"/>
              </a:lnSpc>
              <a:buNone/>
            </a:pP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12878"/>
            <a:ext cx="819150" cy="840118"/>
          </a:xfrm>
          <a:prstGeom prst="rect">
            <a:avLst/>
          </a:prstGeom>
        </p:spPr>
      </p:pic>
      <p:sp>
        <p:nvSpPr>
          <p:cNvPr id="2" name="Shape 7">
            <a:extLst>
              <a:ext uri="{FF2B5EF4-FFF2-40B4-BE49-F238E27FC236}">
                <a16:creationId xmlns:a16="http://schemas.microsoft.com/office/drawing/2014/main" id="{DCD1AA27-8E45-94B2-C809-1CEE449F92A1}"/>
              </a:ext>
            </a:extLst>
          </p:cNvPr>
          <p:cNvSpPr/>
          <p:nvPr/>
        </p:nvSpPr>
        <p:spPr>
          <a:xfrm>
            <a:off x="458228" y="3887184"/>
            <a:ext cx="3929063" cy="39500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0E5FFD4-60FD-465E-AFE9-A679F0D5A2ED}"/>
              </a:ext>
            </a:extLst>
          </p:cNvPr>
          <p:cNvSpPr/>
          <p:nvPr/>
        </p:nvSpPr>
        <p:spPr>
          <a:xfrm>
            <a:off x="4851960" y="3887183"/>
            <a:ext cx="3929063" cy="39500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EB0847-6A50-7D50-FF5E-BC5F8AB47A25}"/>
              </a:ext>
            </a:extLst>
          </p:cNvPr>
          <p:cNvSpPr txBox="1"/>
          <p:nvPr/>
        </p:nvSpPr>
        <p:spPr>
          <a:xfrm>
            <a:off x="560513" y="3971371"/>
            <a:ext cx="457200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File – Admin_details.txt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592338-E312-BF0B-1DF3-E9628EE8E22E}"/>
              </a:ext>
            </a:extLst>
          </p:cNvPr>
          <p:cNvSpPr txBox="1"/>
          <p:nvPr/>
        </p:nvSpPr>
        <p:spPr>
          <a:xfrm>
            <a:off x="4947210" y="3957356"/>
            <a:ext cx="4572000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File – Customer_details.txt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7">
            <a:extLst>
              <a:ext uri="{FF2B5EF4-FFF2-40B4-BE49-F238E27FC236}">
                <a16:creationId xmlns:a16="http://schemas.microsoft.com/office/drawing/2014/main" id="{AAE543BD-4DCF-1A4D-0EA2-870139B2593B}"/>
              </a:ext>
            </a:extLst>
          </p:cNvPr>
          <p:cNvSpPr/>
          <p:nvPr/>
        </p:nvSpPr>
        <p:spPr>
          <a:xfrm>
            <a:off x="574140" y="3328962"/>
            <a:ext cx="3929063" cy="75842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451EA3-6EEF-43C7-BEC3-3C7F4E7F2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12879"/>
            <a:ext cx="819150" cy="84011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6919687-C1F6-4B17-B0AC-727D27A8984D}"/>
              </a:ext>
            </a:extLst>
          </p:cNvPr>
          <p:cNvSpPr/>
          <p:nvPr/>
        </p:nvSpPr>
        <p:spPr>
          <a:xfrm>
            <a:off x="1840835" y="288773"/>
            <a:ext cx="5462329" cy="436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USER AUTHENTICATION &amp; MANAGEMENT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18C58D9E-26B3-4AA9-8A26-6B96D370C37C}"/>
              </a:ext>
            </a:extLst>
          </p:cNvPr>
          <p:cNvSpPr/>
          <p:nvPr/>
        </p:nvSpPr>
        <p:spPr>
          <a:xfrm>
            <a:off x="4650530" y="3324807"/>
            <a:ext cx="3929063" cy="7584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1ACD7547-0D5B-422E-9129-EE6D24506AEC}"/>
              </a:ext>
            </a:extLst>
          </p:cNvPr>
          <p:cNvSpPr/>
          <p:nvPr/>
        </p:nvSpPr>
        <p:spPr>
          <a:xfrm>
            <a:off x="4644474" y="2342297"/>
            <a:ext cx="3929063" cy="75842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45ED0A4-9B89-4160-AE0D-109013416E8E}"/>
              </a:ext>
            </a:extLst>
          </p:cNvPr>
          <p:cNvSpPr/>
          <p:nvPr/>
        </p:nvSpPr>
        <p:spPr>
          <a:xfrm>
            <a:off x="574140" y="2342298"/>
            <a:ext cx="3929063" cy="75842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96DE75E-A677-475E-BC15-51BD3D04AA9E}"/>
              </a:ext>
            </a:extLst>
          </p:cNvPr>
          <p:cNvSpPr/>
          <p:nvPr/>
        </p:nvSpPr>
        <p:spPr>
          <a:xfrm>
            <a:off x="2145323" y="876185"/>
            <a:ext cx="4797083" cy="43601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CA7E504-5480-4716-B22C-D9FD14A81418}"/>
              </a:ext>
            </a:extLst>
          </p:cNvPr>
          <p:cNvSpPr/>
          <p:nvPr/>
        </p:nvSpPr>
        <p:spPr>
          <a:xfrm>
            <a:off x="3666668" y="995594"/>
            <a:ext cx="175439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🛡Security Features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7D59198-CE3D-4C58-8BA1-B9462FD4EDD0}"/>
              </a:ext>
            </a:extLst>
          </p:cNvPr>
          <p:cNvSpPr/>
          <p:nvPr/>
        </p:nvSpPr>
        <p:spPr>
          <a:xfrm>
            <a:off x="2145323" y="1465700"/>
            <a:ext cx="4797083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Comprehensive validation of user credentials, prevention of duplicate registrations, encrypted credential storage, and role-based access control ensure system security and data integrity.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4AE797CF-77C8-4AC4-95CE-9B9DCC41DB61}"/>
              </a:ext>
            </a:extLst>
          </p:cNvPr>
          <p:cNvSpPr/>
          <p:nvPr/>
        </p:nvSpPr>
        <p:spPr>
          <a:xfrm>
            <a:off x="717014" y="2398751"/>
            <a:ext cx="1242776" cy="1418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Credential Storage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ABB6E865-A030-47EE-88DC-DC590F70FB24}"/>
              </a:ext>
            </a:extLst>
          </p:cNvPr>
          <p:cNvSpPr/>
          <p:nvPr/>
        </p:nvSpPr>
        <p:spPr>
          <a:xfrm>
            <a:off x="715411" y="2628048"/>
            <a:ext cx="3694811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All Data is stored in the File handling files with their respective file names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A0E93EA0-C918-4939-A995-26117C79FD66}"/>
              </a:ext>
            </a:extLst>
          </p:cNvPr>
          <p:cNvSpPr/>
          <p:nvPr/>
        </p:nvSpPr>
        <p:spPr>
          <a:xfrm>
            <a:off x="4787349" y="2431097"/>
            <a:ext cx="1345689" cy="1418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Password Validation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63D739F1-57E1-42C4-9B7B-53C393D4287A}"/>
              </a:ext>
            </a:extLst>
          </p:cNvPr>
          <p:cNvSpPr/>
          <p:nvPr/>
        </p:nvSpPr>
        <p:spPr>
          <a:xfrm>
            <a:off x="4787349" y="2645399"/>
            <a:ext cx="3695469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Secure credential matching and verification , also it is present in the file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25">
            <a:extLst>
              <a:ext uri="{FF2B5EF4-FFF2-40B4-BE49-F238E27FC236}">
                <a16:creationId xmlns:a16="http://schemas.microsoft.com/office/drawing/2014/main" id="{8C5FC4E6-81D9-4934-BEA1-369C720B00B3}"/>
              </a:ext>
            </a:extLst>
          </p:cNvPr>
          <p:cNvSpPr/>
          <p:nvPr/>
        </p:nvSpPr>
        <p:spPr>
          <a:xfrm>
            <a:off x="717015" y="3408838"/>
            <a:ext cx="1388650" cy="1418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Duplicate Prevention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95A0A0A1-4DD1-4069-BEBA-B902AE5AF045}"/>
              </a:ext>
            </a:extLst>
          </p:cNvPr>
          <p:cNvSpPr/>
          <p:nvPr/>
        </p:nvSpPr>
        <p:spPr>
          <a:xfrm>
            <a:off x="715411" y="3616857"/>
            <a:ext cx="3634410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It prevents same name is fine but same id is not accept because all passengers have their own unique id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29">
            <a:extLst>
              <a:ext uri="{FF2B5EF4-FFF2-40B4-BE49-F238E27FC236}">
                <a16:creationId xmlns:a16="http://schemas.microsoft.com/office/drawing/2014/main" id="{67ECB052-0637-4243-A3BD-94B5C4803A9A}"/>
              </a:ext>
            </a:extLst>
          </p:cNvPr>
          <p:cNvSpPr/>
          <p:nvPr/>
        </p:nvSpPr>
        <p:spPr>
          <a:xfrm>
            <a:off x="4787349" y="3400234"/>
            <a:ext cx="1782539" cy="1418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Double Entry Not accepted</a:t>
            </a:r>
          </a:p>
        </p:txBody>
      </p:sp>
      <p:sp>
        <p:nvSpPr>
          <p:cNvPr id="18" name="Text 30">
            <a:extLst>
              <a:ext uri="{FF2B5EF4-FFF2-40B4-BE49-F238E27FC236}">
                <a16:creationId xmlns:a16="http://schemas.microsoft.com/office/drawing/2014/main" id="{1EA80705-775B-44E2-8DF9-7A8079D1B240}"/>
              </a:ext>
            </a:extLst>
          </p:cNvPr>
          <p:cNvSpPr/>
          <p:nvPr/>
        </p:nvSpPr>
        <p:spPr>
          <a:xfrm>
            <a:off x="4797857" y="3647659"/>
            <a:ext cx="2219005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Single customer can’t register twice</a:t>
            </a:r>
          </a:p>
        </p:txBody>
      </p:sp>
    </p:spTree>
    <p:extLst>
      <p:ext uri="{BB962C8B-B14F-4D97-AF65-F5344CB8AC3E}">
        <p14:creationId xmlns:p14="http://schemas.microsoft.com/office/powerpoint/2010/main" val="281122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7"/>
          <p:cNvSpPr/>
          <p:nvPr/>
        </p:nvSpPr>
        <p:spPr>
          <a:xfrm>
            <a:off x="4798217" y="3630570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3" name="Shape 7"/>
          <p:cNvSpPr/>
          <p:nvPr/>
        </p:nvSpPr>
        <p:spPr>
          <a:xfrm>
            <a:off x="4798216" y="2913405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2" name="Shape 7"/>
          <p:cNvSpPr/>
          <p:nvPr/>
        </p:nvSpPr>
        <p:spPr>
          <a:xfrm>
            <a:off x="4788690" y="218341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1" name="Shape 7"/>
          <p:cNvSpPr/>
          <p:nvPr/>
        </p:nvSpPr>
        <p:spPr>
          <a:xfrm>
            <a:off x="4798217" y="1443735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0" name="Shape 7"/>
          <p:cNvSpPr/>
          <p:nvPr/>
        </p:nvSpPr>
        <p:spPr>
          <a:xfrm>
            <a:off x="428622" y="3328102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9" name="Shape 7"/>
          <p:cNvSpPr/>
          <p:nvPr/>
        </p:nvSpPr>
        <p:spPr>
          <a:xfrm>
            <a:off x="428623" y="2293144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8" name="Shape 7"/>
          <p:cNvSpPr/>
          <p:nvPr/>
        </p:nvSpPr>
        <p:spPr>
          <a:xfrm>
            <a:off x="428624" y="1092108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Text 0"/>
          <p:cNvSpPr/>
          <p:nvPr/>
        </p:nvSpPr>
        <p:spPr>
          <a:xfrm>
            <a:off x="428625" y="285750"/>
            <a:ext cx="7644026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PASSENGER CLASS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4027" y="1143000"/>
            <a:ext cx="1276247" cy="169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✈ </a:t>
            </a:r>
            <a:r>
              <a:rPr lang="en-IN" sz="900" b="1" dirty="0">
                <a:latin typeface="Times New Roman" pitchFamily="18" charset="0"/>
                <a:cs typeface="Times New Roman" pitchFamily="18" charset="0"/>
              </a:rPr>
              <a:t>Passenger Registration</a:t>
            </a:r>
            <a:endParaRPr lang="en-US" sz="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443038"/>
            <a:ext cx="3929063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enter personal details such as Name, Age, Gender, Aadhar(ID).</a:t>
            </a:r>
            <a:br>
              <a:rPr lang="en-IN" sz="900" dirty="0">
                <a:latin typeface="Times New Roman" pitchFamily="18" charset="0"/>
                <a:cs typeface="Times New Roman" pitchFamily="18" charset="0"/>
              </a:rPr>
            </a:b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After registration, the passenger is stored in the system and can later be used for booking a flight</a:t>
            </a:r>
          </a:p>
          <a:p>
            <a:pPr>
              <a:lnSpc>
                <a:spcPts val="15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File – </a:t>
            </a:r>
            <a:r>
              <a:rPr lang="en-IN" sz="900" b="1" dirty="0">
                <a:latin typeface="Times New Roman" pitchFamily="18" charset="0"/>
                <a:cs typeface="Times New Roman" pitchFamily="18" charset="0"/>
              </a:rPr>
              <a:t>Passenger_details.txt</a:t>
            </a:r>
            <a:endParaRPr lang="en-US" sz="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4027" y="2357438"/>
            <a:ext cx="176035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🔍 </a:t>
            </a:r>
            <a:r>
              <a:rPr lang="en-IN" sz="900" b="1" dirty="0">
                <a:latin typeface="Times New Roman" pitchFamily="18" charset="0"/>
                <a:cs typeface="Times New Roman" pitchFamily="18" charset="0"/>
              </a:rPr>
              <a:t>Unique Passenger Identification</a:t>
            </a:r>
            <a:endParaRPr lang="en-US" sz="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2657475"/>
            <a:ext cx="3929063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Every passenger has unique identity attributes like Aadhar(ID).</a:t>
            </a:r>
            <a:br>
              <a:rPr lang="en-IN" sz="900" dirty="0">
                <a:latin typeface="Times New Roman" pitchFamily="18" charset="0"/>
                <a:cs typeface="Times New Roman" pitchFamily="18" charset="0"/>
              </a:rPr>
            </a:b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This avoids duplicate entries and helps in uniquely identifying each passenger during booking or cancellation.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9432" y="3378994"/>
            <a:ext cx="160954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📊</a:t>
            </a:r>
            <a:r>
              <a:rPr lang="en-IN" sz="900" b="1" dirty="0">
                <a:latin typeface="Times New Roman" pitchFamily="18" charset="0"/>
                <a:cs typeface="Times New Roman" pitchFamily="18" charset="0"/>
              </a:rPr>
              <a:t>Secure Information Handling</a:t>
            </a:r>
            <a:endParaRPr lang="en-US" sz="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3679031"/>
            <a:ext cx="3929063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Sensitive passenger data is not shown publicly unless required for booking or verification.</a:t>
            </a:r>
            <a:br>
              <a:rPr lang="en-IN" sz="900" dirty="0">
                <a:latin typeface="Times New Roman" pitchFamily="18" charset="0"/>
                <a:cs typeface="Times New Roman" pitchFamily="18" charset="0"/>
              </a:rPr>
            </a:b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Helps ensure privacy and secure handling of user details.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08578" y="1508288"/>
            <a:ext cx="84959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PASSENGER ID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05372" y="1668117"/>
            <a:ext cx="36957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A unique identification number assigned to each passenger. It helps in managing bookings and avoids duplicate records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05372" y="2234005"/>
            <a:ext cx="1074012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cs typeface="Times New Roman" pitchFamily="18" charset="0"/>
              </a:rPr>
              <a:t>PASSENGER NAME</a:t>
            </a:r>
          </a:p>
        </p:txBody>
      </p:sp>
      <p:sp>
        <p:nvSpPr>
          <p:cNvPr id="17" name="Text 14"/>
          <p:cNvSpPr/>
          <p:nvPr/>
        </p:nvSpPr>
        <p:spPr>
          <a:xfrm>
            <a:off x="4905372" y="2409027"/>
            <a:ext cx="36957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Stores the full name of the passenger. Used for identification during booking and travel verification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908578" y="2955288"/>
            <a:ext cx="250068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cs typeface="Times New Roman" pitchFamily="18" charset="0"/>
              </a:rPr>
              <a:t>AGE</a:t>
            </a:r>
          </a:p>
        </p:txBody>
      </p:sp>
      <p:sp>
        <p:nvSpPr>
          <p:cNvPr id="21" name="Text 18"/>
          <p:cNvSpPr/>
          <p:nvPr/>
        </p:nvSpPr>
        <p:spPr>
          <a:xfrm>
            <a:off x="4916500" y="3110038"/>
            <a:ext cx="369249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Represents the age of the passenger. Useful for applying special rules such as child or senior citizen discounts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05372" y="3702656"/>
            <a:ext cx="493725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cs typeface="Times New Roman" pitchFamily="18" charset="0"/>
              </a:rPr>
              <a:t>GENDER</a:t>
            </a:r>
          </a:p>
        </p:txBody>
      </p:sp>
      <p:sp>
        <p:nvSpPr>
          <p:cNvPr id="25" name="Text 22"/>
          <p:cNvSpPr/>
          <p:nvPr/>
        </p:nvSpPr>
        <p:spPr>
          <a:xfrm>
            <a:off x="4924422" y="3876769"/>
            <a:ext cx="3684572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IN" sz="900" dirty="0">
                <a:latin typeface="Times New Roman" pitchFamily="18" charset="0"/>
                <a:cs typeface="Times New Roman" pitchFamily="18" charset="0"/>
              </a:rPr>
              <a:t>Specifies the gender of the passenger (e.g., Male/Female/Other). Used for reporting and airline seating policies if required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7"/>
          <p:cNvSpPr/>
          <p:nvPr/>
        </p:nvSpPr>
        <p:spPr>
          <a:xfrm>
            <a:off x="4798212" y="3944419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4" name="Shape 7"/>
          <p:cNvSpPr/>
          <p:nvPr/>
        </p:nvSpPr>
        <p:spPr>
          <a:xfrm>
            <a:off x="4798212" y="325415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3" name="Shape 7"/>
          <p:cNvSpPr/>
          <p:nvPr/>
        </p:nvSpPr>
        <p:spPr>
          <a:xfrm>
            <a:off x="4798212" y="2579074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2" name="Shape 7"/>
          <p:cNvSpPr/>
          <p:nvPr/>
        </p:nvSpPr>
        <p:spPr>
          <a:xfrm>
            <a:off x="4798211" y="188201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1" name="Shape 7"/>
          <p:cNvSpPr/>
          <p:nvPr/>
        </p:nvSpPr>
        <p:spPr>
          <a:xfrm>
            <a:off x="4798212" y="1202476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0" name="Shape 7"/>
          <p:cNvSpPr/>
          <p:nvPr/>
        </p:nvSpPr>
        <p:spPr>
          <a:xfrm>
            <a:off x="428625" y="3539908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9" name="Shape 7"/>
          <p:cNvSpPr/>
          <p:nvPr/>
        </p:nvSpPr>
        <p:spPr>
          <a:xfrm>
            <a:off x="428625" y="2512478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8" name="Shape 7"/>
          <p:cNvSpPr/>
          <p:nvPr/>
        </p:nvSpPr>
        <p:spPr>
          <a:xfrm>
            <a:off x="428624" y="1092108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Text 0"/>
          <p:cNvSpPr/>
          <p:nvPr/>
        </p:nvSpPr>
        <p:spPr>
          <a:xfrm>
            <a:off x="428624" y="285750"/>
            <a:ext cx="7596259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FLIGHT CLASS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8588" y="1161557"/>
            <a:ext cx="106990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✈Admin Operations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443038"/>
            <a:ext cx="3929063" cy="961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Admin can add new flights with complete details including flight number, airline name, departure and destination cities, date, time, and pricing. The system prevents duplicate routes and maintains a comprehensive flight database for operational efficiency.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</a:t>
            </a: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 FLIGHT_details.txt</a:t>
            </a:r>
            <a:endParaRPr lang="en-US" sz="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5761" y="2583319"/>
            <a:ext cx="1175835" cy="1711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🔍 Flight Management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2879893"/>
            <a:ext cx="3929063" cy="55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Add new flights and view all flights with validation to prevent duplicate routes. Each flight is assigned a unique flight number and comprehensive route information for easy identification and scheduling.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8625" y="3601412"/>
            <a:ext cx="1330108" cy="1711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📊 Database Maintenance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3901449"/>
            <a:ext cx="3929063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Comprehensive flight database ensures operational oversight with complete flight information including schedules, pricing, and availability for customer booking operations.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6786" y="1283118"/>
            <a:ext cx="734175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Flight Number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36786" y="1482168"/>
            <a:ext cx="1474763" cy="142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Unique identifier for each flight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14896" y="1967878"/>
            <a:ext cx="663643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Airline Name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98866" y="2167768"/>
            <a:ext cx="228267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Operating airline information such as flight name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914896" y="2646399"/>
            <a:ext cx="926536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Route Information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898866" y="2845750"/>
            <a:ext cx="1465145" cy="142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Departure and destination cities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14896" y="3305194"/>
            <a:ext cx="442429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Schedule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914896" y="3495176"/>
            <a:ext cx="1237518" cy="142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Date and time of departure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936786" y="4011817"/>
            <a:ext cx="702115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Ticket Pricing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914896" y="4226597"/>
            <a:ext cx="872034" cy="142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Cost per passenger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8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7"/>
          <p:cNvSpPr/>
          <p:nvPr/>
        </p:nvSpPr>
        <p:spPr>
          <a:xfrm>
            <a:off x="4714875" y="4079081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4" name="Shape 7"/>
          <p:cNvSpPr/>
          <p:nvPr/>
        </p:nvSpPr>
        <p:spPr>
          <a:xfrm>
            <a:off x="4714875" y="3438810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5" name="Shape 7"/>
          <p:cNvSpPr/>
          <p:nvPr/>
        </p:nvSpPr>
        <p:spPr>
          <a:xfrm>
            <a:off x="4714875" y="2807134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6" name="Shape 7"/>
          <p:cNvSpPr/>
          <p:nvPr/>
        </p:nvSpPr>
        <p:spPr>
          <a:xfrm>
            <a:off x="4714875" y="2183036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7" name="Shape 7"/>
          <p:cNvSpPr/>
          <p:nvPr/>
        </p:nvSpPr>
        <p:spPr>
          <a:xfrm>
            <a:off x="4714875" y="155733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2" name="Shape 7"/>
          <p:cNvSpPr/>
          <p:nvPr/>
        </p:nvSpPr>
        <p:spPr>
          <a:xfrm>
            <a:off x="428625" y="4079081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1" name="Shape 7"/>
          <p:cNvSpPr/>
          <p:nvPr/>
        </p:nvSpPr>
        <p:spPr>
          <a:xfrm>
            <a:off x="428625" y="3438810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60" name="Shape 7"/>
          <p:cNvSpPr/>
          <p:nvPr/>
        </p:nvSpPr>
        <p:spPr>
          <a:xfrm>
            <a:off x="428625" y="2807134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9" name="Shape 7"/>
          <p:cNvSpPr/>
          <p:nvPr/>
        </p:nvSpPr>
        <p:spPr>
          <a:xfrm>
            <a:off x="428625" y="2183036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8" name="Shape 7"/>
          <p:cNvSpPr/>
          <p:nvPr/>
        </p:nvSpPr>
        <p:spPr>
          <a:xfrm>
            <a:off x="428625" y="155733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7" name="Shape 7"/>
          <p:cNvSpPr/>
          <p:nvPr/>
        </p:nvSpPr>
        <p:spPr>
          <a:xfrm>
            <a:off x="4714875" y="1092107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6" name="Shape 7"/>
          <p:cNvSpPr/>
          <p:nvPr/>
        </p:nvSpPr>
        <p:spPr>
          <a:xfrm>
            <a:off x="428624" y="1092108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Text 0"/>
          <p:cNvSpPr/>
          <p:nvPr/>
        </p:nvSpPr>
        <p:spPr>
          <a:xfrm>
            <a:off x="428625" y="285750"/>
            <a:ext cx="7623554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BOOKING &amp; CANCELLATION CLASS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5134" y="1143000"/>
            <a:ext cx="4000500" cy="295466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✅ BOOKING WORKFLOW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5781" y="1664494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1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5819" y="1664494"/>
            <a:ext cx="73417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Browse Flights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38485" y="1818382"/>
            <a:ext cx="3379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Customer views available flights with complete route and pricing information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5781" y="2268141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2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5819" y="2268141"/>
            <a:ext cx="61234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Select Flight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5819" y="2446734"/>
            <a:ext cx="3379130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Choose desired flight from available options based on schedule and price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5781" y="2871788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3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35819" y="2871788"/>
            <a:ext cx="114133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Provide Passenger Info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35819" y="3050381"/>
            <a:ext cx="2593659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Enter passenger details including name, age, and gender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35781" y="3475434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4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35819" y="3475434"/>
            <a:ext cx="862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Confirm Booking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35819" y="3654028"/>
            <a:ext cx="2882199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System generates unique booking ID and confirms reservation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0542" y="4098317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5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38485" y="4117553"/>
            <a:ext cx="81111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Booking History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35818" y="4328207"/>
            <a:ext cx="2677015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Booking recorded in customer history for future reference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</a:t>
            </a: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BOOKING_details.tx</a:t>
            </a: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820400" y="1143000"/>
            <a:ext cx="4000500" cy="295466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❌ CANCELLATION WORKFLOW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22031" y="1664494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1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22069" y="1664494"/>
            <a:ext cx="73417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View Bookings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122069" y="1843088"/>
            <a:ext cx="1920398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Customer accesses list of active bookings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22031" y="2268141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2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122069" y="2268141"/>
            <a:ext cx="72776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Select Booking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122069" y="2446734"/>
            <a:ext cx="2340384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Choose booking to cancel from active reservations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822031" y="2871788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3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22069" y="2871788"/>
            <a:ext cx="107401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Confirm Cancellation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122069" y="3050381"/>
            <a:ext cx="2805255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System requests confirmation before processing cancellation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822031" y="3475434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4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122069" y="3475434"/>
            <a:ext cx="862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Calculate Refund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122069" y="3654028"/>
            <a:ext cx="2856551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System computes refund amount based on cancellation policy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845852" y="4117553"/>
            <a:ext cx="21431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5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144196" y="4117553"/>
            <a:ext cx="100989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Record Cancellation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5144196" y="4327647"/>
            <a:ext cx="2609689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Cancellation tracked in system with refund confirmation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</a:t>
            </a: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CANCEL_BOOKING_details.txt</a:t>
            </a:r>
            <a:endParaRPr lang="en-US" sz="9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7"/>
          <p:cNvSpPr/>
          <p:nvPr/>
        </p:nvSpPr>
        <p:spPr>
          <a:xfrm>
            <a:off x="6066321" y="4105420"/>
            <a:ext cx="2690795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7" name="Shape 7"/>
          <p:cNvSpPr/>
          <p:nvPr/>
        </p:nvSpPr>
        <p:spPr>
          <a:xfrm>
            <a:off x="3226575" y="4105420"/>
            <a:ext cx="2690795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6" name="Shape 7"/>
          <p:cNvSpPr/>
          <p:nvPr/>
        </p:nvSpPr>
        <p:spPr>
          <a:xfrm>
            <a:off x="428624" y="4125933"/>
            <a:ext cx="2690795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5" name="Shape 7"/>
          <p:cNvSpPr/>
          <p:nvPr/>
        </p:nvSpPr>
        <p:spPr>
          <a:xfrm>
            <a:off x="4522033" y="1035844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Text 0"/>
          <p:cNvSpPr/>
          <p:nvPr/>
        </p:nvSpPr>
        <p:spPr>
          <a:xfrm>
            <a:off x="428625" y="265278"/>
            <a:ext cx="7644026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DATA PERSISTENCE LAYER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1092035"/>
            <a:ext cx="3932634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The system employs file-based storage architecture to maintain data persistence across sessions. Each functional module has dedicated text files that store structured data with clear delimiters.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43438" y="1157288"/>
            <a:ext cx="657231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Storage Type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43438" y="1321594"/>
            <a:ext cx="72135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Text Files (.txt)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1975945"/>
            <a:ext cx="2690794" cy="910828"/>
          </a:xfrm>
          <a:prstGeom prst="rect">
            <a:avLst/>
          </a:prstGeom>
          <a:solidFill>
            <a:schemeClr val="tx1">
              <a:lumMod val="95000"/>
              <a:lumOff val="5000"/>
              <a:alpha val="6000"/>
            </a:schemeClr>
          </a:solidFill>
          <a:ln w="198">
            <a:solidFill>
              <a:schemeClr val="tx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213" y="2118820"/>
            <a:ext cx="17312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👤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57213" y="2433145"/>
            <a:ext cx="708527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Admin Details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7213" y="2615310"/>
            <a:ext cx="196528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Admin credentials, IDs, names, passwords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ADMIN_details.txt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26575" y="1975945"/>
            <a:ext cx="2690822" cy="910828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55163" y="2118820"/>
            <a:ext cx="17312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👥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355163" y="2433145"/>
            <a:ext cx="856004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Customer Details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355163" y="2615310"/>
            <a:ext cx="209352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Customer credentials, IDs, names, passwords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CUSTOMER_detials.txt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24553" y="1975945"/>
            <a:ext cx="2690794" cy="910828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141" y="2104532"/>
            <a:ext cx="20197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✈️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53141" y="2418857"/>
            <a:ext cx="663643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Flight Details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53141" y="2601023"/>
            <a:ext cx="197810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Flight numbers, routes, dates, times, prices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FLIGHT_details.txt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8625" y="2965354"/>
            <a:ext cx="2690794" cy="910828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213" y="3108229"/>
            <a:ext cx="17312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🧑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57213" y="3422554"/>
            <a:ext cx="862416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Passenger Details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57213" y="3604720"/>
            <a:ext cx="168956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Passenger IDs, names, ages, genders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PASSENGER_details.txt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26575" y="2965354"/>
            <a:ext cx="2690822" cy="910828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55163" y="3108229"/>
            <a:ext cx="17312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🎫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355163" y="3422554"/>
            <a:ext cx="779059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Booking Details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55163" y="3604720"/>
            <a:ext cx="184986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Booking IDs, passenger info, flight data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BOOKING_details.txt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024553" y="2965354"/>
            <a:ext cx="2690794" cy="910828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53141" y="3093941"/>
            <a:ext cx="13305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❌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153141" y="3408266"/>
            <a:ext cx="666849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Cancellations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153141" y="3590432"/>
            <a:ext cx="207108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Cancelled bookings, refund info, timestamps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– CANCEL_BOOKING_details.txt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35781" y="4183363"/>
            <a:ext cx="50013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Simplicity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35781" y="4347670"/>
            <a:ext cx="2462222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Easy to implement and understand without database complexity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326616" y="4183363"/>
            <a:ext cx="551433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Persistence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326616" y="4347670"/>
            <a:ext cx="2138406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Data survives application restarts and sessions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131737" y="4183363"/>
            <a:ext cx="69249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Transparency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131737" y="4347670"/>
            <a:ext cx="2476509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Human-readable format for easy debugging and verification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7"/>
          <p:cNvSpPr/>
          <p:nvPr/>
        </p:nvSpPr>
        <p:spPr>
          <a:xfrm>
            <a:off x="4714873" y="1030855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1" name="Shape 7"/>
          <p:cNvSpPr/>
          <p:nvPr/>
        </p:nvSpPr>
        <p:spPr>
          <a:xfrm>
            <a:off x="4714871" y="3286549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2" name="Shape 7"/>
          <p:cNvSpPr/>
          <p:nvPr/>
        </p:nvSpPr>
        <p:spPr>
          <a:xfrm>
            <a:off x="4714872" y="2654042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3" name="Shape 7"/>
          <p:cNvSpPr/>
          <p:nvPr/>
        </p:nvSpPr>
        <p:spPr>
          <a:xfrm>
            <a:off x="4714872" y="2042346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4" name="Shape 7"/>
          <p:cNvSpPr/>
          <p:nvPr/>
        </p:nvSpPr>
        <p:spPr>
          <a:xfrm>
            <a:off x="4714872" y="1435285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0" name="Shape 7"/>
          <p:cNvSpPr/>
          <p:nvPr/>
        </p:nvSpPr>
        <p:spPr>
          <a:xfrm>
            <a:off x="428621" y="3286549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9" name="Shape 7"/>
          <p:cNvSpPr/>
          <p:nvPr/>
        </p:nvSpPr>
        <p:spPr>
          <a:xfrm>
            <a:off x="428622" y="2654042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8" name="Shape 7"/>
          <p:cNvSpPr/>
          <p:nvPr/>
        </p:nvSpPr>
        <p:spPr>
          <a:xfrm>
            <a:off x="428622" y="2042346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7" name="Shape 7"/>
          <p:cNvSpPr/>
          <p:nvPr/>
        </p:nvSpPr>
        <p:spPr>
          <a:xfrm>
            <a:off x="428622" y="1435285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46" name="Shape 7"/>
          <p:cNvSpPr/>
          <p:nvPr/>
        </p:nvSpPr>
        <p:spPr>
          <a:xfrm>
            <a:off x="428625" y="1030856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Text 0"/>
          <p:cNvSpPr/>
          <p:nvPr/>
        </p:nvSpPr>
        <p:spPr>
          <a:xfrm>
            <a:off x="428625" y="285750"/>
            <a:ext cx="7705725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EXCEPTION HANDLING &amp; VALIDATION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3109" y="1071563"/>
            <a:ext cx="1159805" cy="2782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🛡Exception Handling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5778" y="1511042"/>
            <a:ext cx="657231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Invalid Input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5778" y="1643251"/>
            <a:ext cx="3821907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Try-catch blocks catch  invalid input exceptions when non-numeric values are entered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5778" y="2082542"/>
            <a:ext cx="766235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Operations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5778" y="2257564"/>
            <a:ext cx="3292568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Handles file not found, read/write failures, and stream errors gracefully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7725" y="2680995"/>
            <a:ext cx="958596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Memory Allocation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5778" y="2869260"/>
            <a:ext cx="3196388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Catches bad_alloc exceptions when dynamic memory allocation fails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7725" y="3329789"/>
            <a:ext cx="791883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Runtime Errors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35778" y="3530049"/>
            <a:ext cx="2943113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Handles unexpected runtime conditions and recovers gracefully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8625" y="3971019"/>
            <a:ext cx="4000500" cy="500063"/>
          </a:xfrm>
          <a:prstGeom prst="rect">
            <a:avLst/>
          </a:prstGeom>
          <a:solidFill>
            <a:schemeClr val="bg2">
              <a:lumMod val="10000"/>
              <a:alpha val="5000"/>
            </a:schemeClr>
          </a:solidFill>
          <a:ln w="19050">
            <a:solidFill>
              <a:schemeClr val="bg2">
                <a:lumMod val="10000"/>
                <a:alpha val="50000"/>
              </a:schemeClr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5781" y="4056744"/>
            <a:ext cx="779059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Error Recovery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5781" y="4231766"/>
            <a:ext cx="3606757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System clears input buffers, resets flags, and prompts users to retry operations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8625" y="4542519"/>
            <a:ext cx="4000500" cy="500063"/>
          </a:xfrm>
          <a:prstGeom prst="rect">
            <a:avLst/>
          </a:prstGeom>
          <a:solidFill>
            <a:schemeClr val="bg2">
              <a:lumMod val="10000"/>
              <a:alpha val="5000"/>
            </a:schemeClr>
          </a:solidFill>
          <a:ln w="19050">
            <a:solidFill>
              <a:schemeClr val="bg2">
                <a:lumMod val="10000"/>
                <a:alpha val="50000"/>
              </a:schemeClr>
            </a:solidFill>
            <a:prstDash val="lgDash"/>
          </a:ln>
        </p:spPr>
      </p:sp>
      <p:sp>
        <p:nvSpPr>
          <p:cNvPr id="21" name="Text 18"/>
          <p:cNvSpPr/>
          <p:nvPr/>
        </p:nvSpPr>
        <p:spPr>
          <a:xfrm>
            <a:off x="535781" y="4628244"/>
            <a:ext cx="734175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User Feedback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35781" y="4803266"/>
            <a:ext cx="2821285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Clear error messages guide users on correcting invalid inputs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77431" y="1071563"/>
            <a:ext cx="931922" cy="2782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✔ Data Validation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822028" y="1511042"/>
            <a:ext cx="107401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Credential Validation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822028" y="1686064"/>
            <a:ext cx="314509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Verifies user ID and password match stored credentials before login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822028" y="2082542"/>
            <a:ext cx="104195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Duplicate Prevention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22028" y="2248274"/>
            <a:ext cx="2840521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Prevents adding duplicate passengers with same ID to system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822028" y="2680995"/>
            <a:ext cx="888064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Route Uniqueness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822028" y="2893643"/>
            <a:ext cx="3218830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Ensures no duplicate flights exist on same departure-destination route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22028" y="3329789"/>
            <a:ext cx="856004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Existence Checks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822027" y="3556578"/>
            <a:ext cx="2959143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Verifies files exist before reading and handles missing data files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714875" y="3971019"/>
            <a:ext cx="4000500" cy="500063"/>
          </a:xfrm>
          <a:prstGeom prst="rect">
            <a:avLst/>
          </a:prstGeom>
          <a:solidFill>
            <a:schemeClr val="bg2">
              <a:lumMod val="10000"/>
              <a:alpha val="5000"/>
            </a:schemeClr>
          </a:solidFill>
          <a:ln w="19050">
            <a:solidFill>
              <a:schemeClr val="bg2">
                <a:lumMod val="10000"/>
                <a:alpha val="50000"/>
              </a:schemeClr>
            </a:solidFill>
            <a:prstDash val="dash"/>
          </a:ln>
        </p:spPr>
      </p:sp>
      <p:sp>
        <p:nvSpPr>
          <p:cNvPr id="41" name="Text 38"/>
          <p:cNvSpPr/>
          <p:nvPr/>
        </p:nvSpPr>
        <p:spPr>
          <a:xfrm>
            <a:off x="4822031" y="4056744"/>
            <a:ext cx="702115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Data Integrity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822031" y="4231766"/>
            <a:ext cx="3571491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Maintains consistency across operations and prevents invalid state transitions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714875" y="4542519"/>
            <a:ext cx="4000500" cy="500063"/>
          </a:xfrm>
          <a:prstGeom prst="rect">
            <a:avLst/>
          </a:prstGeom>
          <a:solidFill>
            <a:schemeClr val="bg2">
              <a:lumMod val="10000"/>
              <a:alpha val="5000"/>
            </a:schemeClr>
          </a:solidFill>
          <a:ln w="19050">
            <a:solidFill>
              <a:schemeClr val="bg2">
                <a:lumMod val="10000"/>
                <a:alpha val="50000"/>
              </a:schemeClr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4822031" y="4628244"/>
            <a:ext cx="894476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Input Sanitization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822031" y="4803266"/>
            <a:ext cx="304891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Validates all user inputs before processing and storing in database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7"/>
          <p:cNvSpPr/>
          <p:nvPr/>
        </p:nvSpPr>
        <p:spPr>
          <a:xfrm>
            <a:off x="4582799" y="429661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7" name="Shape 7"/>
          <p:cNvSpPr/>
          <p:nvPr/>
        </p:nvSpPr>
        <p:spPr>
          <a:xfrm>
            <a:off x="4582801" y="367885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6" name="Shape 7"/>
          <p:cNvSpPr/>
          <p:nvPr/>
        </p:nvSpPr>
        <p:spPr>
          <a:xfrm>
            <a:off x="4582801" y="3061097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5" name="Shape 7"/>
          <p:cNvSpPr/>
          <p:nvPr/>
        </p:nvSpPr>
        <p:spPr>
          <a:xfrm>
            <a:off x="428623" y="429661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4" name="Shape 7"/>
          <p:cNvSpPr/>
          <p:nvPr/>
        </p:nvSpPr>
        <p:spPr>
          <a:xfrm>
            <a:off x="428625" y="3678858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3" name="Shape 7"/>
          <p:cNvSpPr/>
          <p:nvPr/>
        </p:nvSpPr>
        <p:spPr>
          <a:xfrm>
            <a:off x="428625" y="3061097"/>
            <a:ext cx="3929063" cy="571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2" name="Shape 7"/>
          <p:cNvSpPr/>
          <p:nvPr/>
        </p:nvSpPr>
        <p:spPr>
          <a:xfrm>
            <a:off x="4577209" y="2727016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1" name="Shape 7"/>
          <p:cNvSpPr/>
          <p:nvPr/>
        </p:nvSpPr>
        <p:spPr>
          <a:xfrm>
            <a:off x="428624" y="2721688"/>
            <a:ext cx="3929063" cy="29414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" name="Text 0"/>
          <p:cNvSpPr/>
          <p:nvPr/>
        </p:nvSpPr>
        <p:spPr>
          <a:xfrm>
            <a:off x="428625" y="285750"/>
            <a:ext cx="7637202" cy="387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TECHNICAL IMPLEMENTATION</a:t>
            </a:r>
            <a:endParaRPr lang="en-US" sz="201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071563"/>
            <a:ext cx="2666991" cy="835819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213" y="1200150"/>
            <a:ext cx="935000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Primary Language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7213" y="1385888"/>
            <a:ext cx="330219" cy="171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C++23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7213" y="1621631"/>
            <a:ext cx="169597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Modern C++ with advanced features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19459" y="1071563"/>
            <a:ext cx="2676534" cy="835819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7563" y="1200150"/>
            <a:ext cx="411266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Concept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57563" y="1385888"/>
            <a:ext cx="25006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OOP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57563" y="1621631"/>
            <a:ext cx="1413849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Object-Oriented Programming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29325" y="1071563"/>
            <a:ext cx="2686050" cy="835819"/>
          </a:xfrm>
          <a:prstGeom prst="rect">
            <a:avLst/>
          </a:prstGeom>
          <a:solidFill>
            <a:schemeClr val="bg2">
              <a:lumMod val="10000"/>
              <a:alpha val="6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6944" y="1200150"/>
            <a:ext cx="629916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Architecture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76944" y="1385888"/>
            <a:ext cx="59631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Class-Based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76944" y="1621631"/>
            <a:ext cx="1346522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Inheritance &amp; Polymorphism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8625" y="2093119"/>
            <a:ext cx="2705081" cy="571500"/>
          </a:xfrm>
          <a:prstGeom prst="rect">
            <a:avLst/>
          </a:prstGeom>
          <a:solidFill>
            <a:schemeClr val="bg2">
              <a:lumMod val="10000"/>
              <a:alpha val="5000"/>
            </a:schemeClr>
          </a:solidFill>
          <a:ln w="99">
            <a:solidFill>
              <a:schemeClr val="bg2">
                <a:lumMod val="10000"/>
                <a:alpha val="40000"/>
              </a:scheme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51323" y="2178844"/>
            <a:ext cx="259686" cy="218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🏗️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95831" y="2436019"/>
            <a:ext cx="570670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Inheritance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19431" y="2093119"/>
            <a:ext cx="2705109" cy="571500"/>
          </a:xfrm>
          <a:prstGeom prst="rect">
            <a:avLst/>
          </a:prstGeom>
          <a:solidFill>
            <a:schemeClr val="bg2">
              <a:lumMod val="10000"/>
              <a:alpha val="5000"/>
            </a:schemeClr>
          </a:solidFill>
          <a:ln w="99">
            <a:solidFill>
              <a:schemeClr val="bg2">
                <a:lumMod val="10000"/>
                <a:alpha val="40000"/>
              </a:scheme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5424" y="2178844"/>
            <a:ext cx="173124" cy="218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🔄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209707" y="2436019"/>
            <a:ext cx="72455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Polymorphism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10266" y="2093119"/>
            <a:ext cx="2705081" cy="571500"/>
          </a:xfrm>
          <a:prstGeom prst="rect">
            <a:avLst/>
          </a:prstGeom>
          <a:solidFill>
            <a:schemeClr val="bg2">
              <a:lumMod val="10000"/>
              <a:alpha val="5000"/>
            </a:schemeClr>
          </a:solidFill>
          <a:ln w="99">
            <a:solidFill>
              <a:schemeClr val="bg2">
                <a:lumMod val="10000"/>
                <a:alpha val="40000"/>
              </a:scheme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76244" y="2178844"/>
            <a:ext cx="173124" cy="218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🔒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010146" y="2436019"/>
            <a:ext cx="705321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Encapsulation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35781" y="2793206"/>
            <a:ext cx="703782" cy="22262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Core Features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35781" y="3178969"/>
            <a:ext cx="875240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Virtual Functions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35781" y="3346847"/>
            <a:ext cx="2689839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Enables polymorphic behavior through method overriding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35781" y="3732609"/>
            <a:ext cx="1022716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Multiple Inheritance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35781" y="3900488"/>
            <a:ext cx="2773195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BOOKING class inherits from both Passenger and FLIGHT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35781" y="4356782"/>
            <a:ext cx="977832" cy="132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Dynamic Allocation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35781" y="4518248"/>
            <a:ext cx="2962349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cs typeface="Times New Roman" pitchFamily="18" charset="0"/>
              </a:rPr>
              <a:t>For booking the tickets and store it in file dynamically approach</a:t>
            </a:r>
          </a:p>
        </p:txBody>
      </p:sp>
      <p:sp>
        <p:nvSpPr>
          <p:cNvPr id="38" name="Text 35"/>
          <p:cNvSpPr/>
          <p:nvPr/>
        </p:nvSpPr>
        <p:spPr>
          <a:xfrm>
            <a:off x="4657787" y="2793205"/>
            <a:ext cx="1121589" cy="22262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&amp; Error Handling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732734" y="3178969"/>
            <a:ext cx="96180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File I/O Operations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732734" y="3346847"/>
            <a:ext cx="2975173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ifstream and ofstream for reading/writing data in respective files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732734" y="3732609"/>
            <a:ext cx="984244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Exception Handling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732734" y="3900488"/>
            <a:ext cx="1814599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Try-catch blocks for error management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732734" y="4356782"/>
            <a:ext cx="100989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String Manipulation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4745439" y="4518248"/>
            <a:ext cx="2067874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String parsing and data extraction operations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10973" y="657951"/>
            <a:ext cx="2122055" cy="5257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2436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CONCLUSION</a:t>
            </a:r>
            <a:endParaRPr lang="en-US" sz="2436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357313" y="1315176"/>
            <a:ext cx="6429375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The Flight Reservation System demonstrates solid software engineering principles with comprehensive functionality for managing flight operations, user authentication, and booking management.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357313" y="1836669"/>
            <a:ext cx="3171825" cy="1017984"/>
          </a:xfrm>
          <a:prstGeom prst="rect">
            <a:avLst/>
          </a:prstGeom>
          <a:solidFill>
            <a:schemeClr val="bg2">
              <a:lumMod val="10000"/>
              <a:alpha val="8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13381" y="1958113"/>
            <a:ext cx="25968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🏗️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438279" y="2301013"/>
            <a:ext cx="1009893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Robust Architecture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64469" y="2476035"/>
            <a:ext cx="29575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Object-oriented design with inheritance and polymorphism for scalable code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14863" y="1850957"/>
            <a:ext cx="3171825" cy="989409"/>
          </a:xfrm>
          <a:prstGeom prst="rect">
            <a:avLst/>
          </a:prstGeom>
          <a:solidFill>
            <a:schemeClr val="bg2">
              <a:lumMod val="10000"/>
              <a:alpha val="8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14213" y="1958113"/>
            <a:ext cx="17312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🔐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50945" y="2301013"/>
            <a:ext cx="1099660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Secure Authentication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47464" y="2476035"/>
            <a:ext cx="3106620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Dual-role access control with credential validation and permissions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357313" y="2926091"/>
            <a:ext cx="3171825" cy="889397"/>
          </a:xfrm>
          <a:prstGeom prst="rect">
            <a:avLst/>
          </a:prstGeom>
          <a:solidFill>
            <a:schemeClr val="bg2">
              <a:lumMod val="10000"/>
              <a:alpha val="8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33420" y="3033247"/>
            <a:ext cx="2196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⚙️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361335" y="3376147"/>
            <a:ext cx="1163781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Complete Functionality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356251" y="3551169"/>
            <a:ext cx="3173946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End-to-end flight management, booking, and cancellation operations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14863" y="2926091"/>
            <a:ext cx="3171825" cy="889397"/>
          </a:xfrm>
          <a:prstGeom prst="rect">
            <a:avLst/>
          </a:prstGeom>
          <a:solidFill>
            <a:schemeClr val="bg2">
              <a:lumMod val="10000"/>
              <a:alpha val="8000"/>
            </a:schemeClr>
          </a:solidFill>
          <a:ln w="198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14213" y="3047535"/>
            <a:ext cx="17312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💾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92010" y="3390435"/>
            <a:ext cx="817531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Data Persistence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689142" y="3565457"/>
            <a:ext cx="3023264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Reliable file-based storage ensuring data integrity across sessions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33350"/>
            <a:ext cx="819150" cy="8401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44982" y="3500355"/>
            <a:ext cx="5854038" cy="703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7200" b="1" kern="0" spc="1" dirty="0">
                <a:latin typeface="Times New Roman" pitchFamily="18" charset="0"/>
                <a:ea typeface="Noto Sans" pitchFamily="34" charset="-122"/>
                <a:cs typeface="Times New Roman" pitchFamily="18" charset="0"/>
              </a:rPr>
              <a:t>THANK YOU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4CCE18-3E27-44CF-FA3E-E526991FF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732" y="973468"/>
            <a:ext cx="31432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9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1532</Words>
  <Application>Microsoft Office PowerPoint</Application>
  <PresentationFormat>On-screen Show (16:9)</PresentationFormat>
  <Paragraphs>272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Noto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jadhav karthik</cp:lastModifiedBy>
  <cp:revision>33</cp:revision>
  <dcterms:created xsi:type="dcterms:W3CDTF">2025-10-28T17:29:40Z</dcterms:created>
  <dcterms:modified xsi:type="dcterms:W3CDTF">2025-10-30T11:48:54Z</dcterms:modified>
</cp:coreProperties>
</file>